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4"/>
  </p:notesMasterIdLst>
  <p:handoutMasterIdLst>
    <p:handoutMasterId r:id="rId15"/>
  </p:handoutMasterIdLst>
  <p:sldIdLst>
    <p:sldId id="256" r:id="rId5"/>
    <p:sldId id="257" r:id="rId6"/>
    <p:sldId id="269" r:id="rId7"/>
    <p:sldId id="270" r:id="rId8"/>
    <p:sldId id="271" r:id="rId9"/>
    <p:sldId id="272" r:id="rId10"/>
    <p:sldId id="273" r:id="rId11"/>
    <p:sldId id="274" r:id="rId12"/>
    <p:sldId id="268" r:id="rId13"/>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18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5/1/2026</a:t>
            </a:fld>
            <a:endParaRPr lang="en-US" dirty="0"/>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dirty="0"/>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dirty="0"/>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5/1/2026</a:t>
            </a:fld>
            <a:endParaRPr lang="en-US" dirty="0"/>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dirty="0"/>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dirty="0"/>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dirty="0"/>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dirty="0"/>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dirty="0"/>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IN" dirty="0"/>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dirty="0"/>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dirty="0"/>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dirty="0"/>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dirty="0"/>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dirty="0">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dirty="0">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dirty="0">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IN" sz="4800" b="1" dirty="0"/>
              <a:t>EcoBeacon AI</a:t>
            </a:r>
            <a:br>
              <a:rPr lang="en-IN" sz="4800" dirty="0"/>
            </a:b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Khushi </a:t>
            </a:r>
            <a:r>
              <a:rPr lang="en-US" sz="2000" spc="-1" dirty="0">
                <a:solidFill>
                  <a:srgbClr val="000000"/>
                </a:solidFill>
                <a:latin typeface="Times New Roman" panose="02020603050405020304" pitchFamily="18" charset="0"/>
                <a:ea typeface="MS PGothic"/>
                <a:cs typeface="Times New Roman" panose="02020603050405020304" pitchFamily="18" charset="0"/>
              </a:rPr>
              <a:t>(2210991798)</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Palak Goyal (2210992015)</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Himani Bedi (2210991653)</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Isha Kansal</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t>Problem Statement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dirty="0">
              <a:latin typeface="Times New Roman"/>
            </a:endParaRPr>
          </a:p>
        </p:txBody>
      </p:sp>
      <p:sp>
        <p:nvSpPr>
          <p:cNvPr id="5" name="TextShape 2"/>
          <p:cNvSpPr txBox="1"/>
          <p:nvPr/>
        </p:nvSpPr>
        <p:spPr>
          <a:xfrm>
            <a:off x="457200" y="1109742"/>
            <a:ext cx="8229240" cy="4838571"/>
          </a:xfrm>
          <a:prstGeom prst="rect">
            <a:avLst/>
          </a:prstGeom>
          <a:noFill/>
          <a:ln w="9360">
            <a:noFill/>
          </a:ln>
        </p:spPr>
        <p:txBody>
          <a:bodyPr>
            <a:noAutofit/>
          </a:bodyPr>
          <a:lstStyle/>
          <a:p>
            <a:pPr algn="just">
              <a:lnSpc>
                <a:spcPct val="150000"/>
              </a:lnSpc>
              <a:spcBef>
                <a:spcPts val="400"/>
              </a:spcBef>
            </a:pPr>
            <a:r>
              <a:rPr lang="en-US" sz="2000" dirty="0">
                <a:latin typeface="Times New Roman" panose="02020603050405020304" pitchFamily="18" charset="0"/>
                <a:cs typeface="Times New Roman" panose="02020603050405020304" pitchFamily="18" charset="0"/>
              </a:rPr>
              <a:t>Today, carbon emissions are increasing rapidly and contributing to serious environmental issues like climate change. However, most people are not aware of how their daily activities—such as travel, electricity usage, food choices, and shopping impact the environment. There is a lack of simple and accessible tools that help individuals track their personal carbon footprint and guide them with actionable steps to reduce it.</a:t>
            </a:r>
            <a:endParaRPr lang="en-US" sz="19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03F47-E5CD-B74B-3982-4287BFC1CD59}"/>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C8CBCDF8-3C75-7E71-B3EB-61EAD7D98D8B}"/>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t>Solution Overview</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430D4C07-EA7A-8484-93B8-E60BED40789C}"/>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dirty="0">
              <a:latin typeface="Times New Roman"/>
            </a:endParaRPr>
          </a:p>
        </p:txBody>
      </p:sp>
      <p:sp>
        <p:nvSpPr>
          <p:cNvPr id="5" name="TextShape 2">
            <a:extLst>
              <a:ext uri="{FF2B5EF4-FFF2-40B4-BE49-F238E27FC236}">
                <a16:creationId xmlns:a16="http://schemas.microsoft.com/office/drawing/2014/main" id="{30332DB6-A447-E522-FCE0-1D902FCEDD45}"/>
              </a:ext>
            </a:extLst>
          </p:cNvPr>
          <p:cNvSpPr txBox="1"/>
          <p:nvPr/>
        </p:nvSpPr>
        <p:spPr>
          <a:xfrm>
            <a:off x="457200" y="923544"/>
            <a:ext cx="8545528" cy="3941065"/>
          </a:xfrm>
          <a:prstGeom prst="rect">
            <a:avLst/>
          </a:prstGeom>
          <a:noFill/>
          <a:ln w="9360">
            <a:noFill/>
          </a:ln>
        </p:spPr>
        <p:txBody>
          <a:bodyPr>
            <a:noAutofit/>
          </a:bodyPr>
          <a:lstStyle/>
          <a:p>
            <a:pPr>
              <a:lnSpc>
                <a:spcPct val="150000"/>
              </a:lnSpc>
              <a:buNone/>
            </a:pPr>
            <a:r>
              <a:rPr lang="en-IN" sz="2400" b="1" dirty="0">
                <a:latin typeface="Times New Roman" panose="02020603050405020304" pitchFamily="18" charset="0"/>
                <a:cs typeface="Times New Roman" panose="02020603050405020304" pitchFamily="18" charset="0"/>
              </a:rPr>
              <a:t>What is EcoBeacon AI?</a:t>
            </a:r>
            <a:endParaRPr lang="en-IN" sz="24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Web app to track daily activities and CO₂ emissions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Covers: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Transportation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Electricity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Food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Shopping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Provides: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Real-time emission calculation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AI-based recommendations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Eco Score (0–100) </a:t>
            </a:r>
          </a:p>
          <a:p>
            <a:pPr>
              <a:lnSpc>
                <a:spcPct val="150000"/>
              </a:lnSpc>
              <a:buNone/>
            </a:pPr>
            <a:r>
              <a:rPr lang="en-IN" dirty="0">
                <a:latin typeface="Times New Roman" panose="02020603050405020304" pitchFamily="18" charset="0"/>
                <a:cs typeface="Times New Roman" panose="02020603050405020304" pitchFamily="18" charset="0"/>
                <a:sym typeface="Wingdings" panose="05000000000000000000" pitchFamily="2" charset="2"/>
              </a:rPr>
              <a:t> </a:t>
            </a:r>
            <a:r>
              <a:rPr lang="en-IN" dirty="0">
                <a:latin typeface="Times New Roman" panose="02020603050405020304" pitchFamily="18" charset="0"/>
                <a:cs typeface="Times New Roman" panose="02020603050405020304" pitchFamily="18" charset="0"/>
              </a:rPr>
              <a:t>Helps users adopt eco-friendly habits</a:t>
            </a:r>
          </a:p>
        </p:txBody>
      </p:sp>
    </p:spTree>
    <p:extLst>
      <p:ext uri="{BB962C8B-B14F-4D97-AF65-F5344CB8AC3E}">
        <p14:creationId xmlns:p14="http://schemas.microsoft.com/office/powerpoint/2010/main" val="3331464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5E65D-5FE5-B7C3-6784-2F225DBEA43F}"/>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F5AD11CD-1401-CFE6-7E47-CC4A331B1BC5}"/>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t>Key Features</a:t>
            </a:r>
            <a:endParaRPr lang="en-US" sz="3000"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8A30D341-2924-CFA2-192F-7C41F6E688DA}"/>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dirty="0">
              <a:latin typeface="Times New Roman"/>
            </a:endParaRPr>
          </a:p>
        </p:txBody>
      </p:sp>
      <p:sp>
        <p:nvSpPr>
          <p:cNvPr id="5" name="TextShape 2">
            <a:extLst>
              <a:ext uri="{FF2B5EF4-FFF2-40B4-BE49-F238E27FC236}">
                <a16:creationId xmlns:a16="http://schemas.microsoft.com/office/drawing/2014/main" id="{8E2DF281-A1F7-9DC2-756B-EDC3F5C28A53}"/>
              </a:ext>
            </a:extLst>
          </p:cNvPr>
          <p:cNvSpPr txBox="1"/>
          <p:nvPr/>
        </p:nvSpPr>
        <p:spPr>
          <a:xfrm>
            <a:off x="457200" y="1109742"/>
            <a:ext cx="8434136" cy="4388689"/>
          </a:xfrm>
          <a:prstGeom prst="rect">
            <a:avLst/>
          </a:prstGeom>
          <a:noFill/>
          <a:ln w="9360">
            <a:noFill/>
          </a:ln>
        </p:spPr>
        <p:txBody>
          <a:bodyPr>
            <a:noAutofit/>
          </a:bodyPr>
          <a:lstStyle/>
          <a:p>
            <a:pPr>
              <a:buNone/>
            </a:pPr>
            <a:r>
              <a:rPr lang="en-US" sz="2400" b="1" dirty="0">
                <a:latin typeface="Times New Roman" panose="02020603050405020304" pitchFamily="18" charset="0"/>
                <a:cs typeface="Times New Roman" panose="02020603050405020304" pitchFamily="18" charset="0"/>
              </a:rPr>
              <a:t>Core Features</a:t>
            </a:r>
            <a:endParaRPr lang="en-US" sz="24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Activity logging with emission preview </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Natural language input </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GPS-based trip tracking </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AI suggestions &amp; weekly goals </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7-day emission forecast </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Gamification: </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Eco Score </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Badges &amp; streaks</a:t>
            </a:r>
          </a:p>
        </p:txBody>
      </p:sp>
    </p:spTree>
    <p:extLst>
      <p:ext uri="{BB962C8B-B14F-4D97-AF65-F5344CB8AC3E}">
        <p14:creationId xmlns:p14="http://schemas.microsoft.com/office/powerpoint/2010/main" val="4266140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76349-29FD-9793-8B2D-0BEEF1093997}"/>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759A3E41-83FF-C815-3750-3D970FF5FC21}"/>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t>Tech Stack</a:t>
            </a:r>
            <a:endParaRPr lang="en-US" sz="3000"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D45CFE05-7D8D-16FC-FC6E-2A6518CFFED8}"/>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dirty="0">
              <a:latin typeface="Times New Roman"/>
            </a:endParaRPr>
          </a:p>
        </p:txBody>
      </p:sp>
      <p:sp>
        <p:nvSpPr>
          <p:cNvPr id="5" name="TextShape 2">
            <a:extLst>
              <a:ext uri="{FF2B5EF4-FFF2-40B4-BE49-F238E27FC236}">
                <a16:creationId xmlns:a16="http://schemas.microsoft.com/office/drawing/2014/main" id="{3DE21AFD-F1DC-DE61-931B-CD486C489F62}"/>
              </a:ext>
            </a:extLst>
          </p:cNvPr>
          <p:cNvSpPr txBox="1"/>
          <p:nvPr/>
        </p:nvSpPr>
        <p:spPr>
          <a:xfrm>
            <a:off x="457200" y="1109742"/>
            <a:ext cx="8434136" cy="4388689"/>
          </a:xfrm>
          <a:prstGeom prst="rect">
            <a:avLst/>
          </a:prstGeom>
          <a:noFill/>
          <a:ln w="9360">
            <a:noFill/>
          </a:ln>
        </p:spPr>
        <p:txBody>
          <a:bodyPr>
            <a:noAutofit/>
          </a:bodyPr>
          <a:lstStyle/>
          <a:p>
            <a:pPr>
              <a:lnSpc>
                <a:spcPct val="150000"/>
              </a:lnSpc>
              <a:buNone/>
            </a:pPr>
            <a:r>
              <a:rPr lang="en-IN" b="1" dirty="0"/>
              <a:t>Frontend:</a:t>
            </a:r>
            <a:endParaRPr lang="en-IN" dirty="0"/>
          </a:p>
          <a:p>
            <a:pPr>
              <a:lnSpc>
                <a:spcPct val="150000"/>
              </a:lnSpc>
              <a:buFont typeface="Arial" panose="020B0604020202020204" pitchFamily="34" charset="0"/>
              <a:buChar char="•"/>
            </a:pPr>
            <a:r>
              <a:rPr lang="en-IN" dirty="0"/>
              <a:t> React.js </a:t>
            </a:r>
          </a:p>
          <a:p>
            <a:pPr>
              <a:lnSpc>
                <a:spcPct val="150000"/>
              </a:lnSpc>
              <a:buFont typeface="Arial" panose="020B0604020202020204" pitchFamily="34" charset="0"/>
              <a:buChar char="•"/>
            </a:pPr>
            <a:r>
              <a:rPr lang="en-IN" dirty="0"/>
              <a:t> Tailwind CSS </a:t>
            </a:r>
          </a:p>
          <a:p>
            <a:pPr>
              <a:lnSpc>
                <a:spcPct val="150000"/>
              </a:lnSpc>
              <a:buFont typeface="Arial" panose="020B0604020202020204" pitchFamily="34" charset="0"/>
              <a:buChar char="•"/>
            </a:pPr>
            <a:r>
              <a:rPr lang="en-IN" dirty="0"/>
              <a:t> Recharts </a:t>
            </a:r>
          </a:p>
          <a:p>
            <a:pPr>
              <a:lnSpc>
                <a:spcPct val="150000"/>
              </a:lnSpc>
              <a:buNone/>
            </a:pPr>
            <a:r>
              <a:rPr lang="en-IN" b="1" dirty="0"/>
              <a:t>Backend:</a:t>
            </a:r>
            <a:endParaRPr lang="en-IN" dirty="0"/>
          </a:p>
          <a:p>
            <a:pPr>
              <a:lnSpc>
                <a:spcPct val="150000"/>
              </a:lnSpc>
              <a:buFont typeface="Arial" panose="020B0604020202020204" pitchFamily="34" charset="0"/>
              <a:buChar char="•"/>
            </a:pPr>
            <a:r>
              <a:rPr lang="en-IN" dirty="0"/>
              <a:t> Node.js </a:t>
            </a:r>
          </a:p>
          <a:p>
            <a:pPr>
              <a:lnSpc>
                <a:spcPct val="150000"/>
              </a:lnSpc>
              <a:buFont typeface="Arial" panose="020B0604020202020204" pitchFamily="34" charset="0"/>
              <a:buChar char="•"/>
            </a:pPr>
            <a:r>
              <a:rPr lang="en-IN" dirty="0"/>
              <a:t> Express.js </a:t>
            </a:r>
          </a:p>
          <a:p>
            <a:pPr>
              <a:lnSpc>
                <a:spcPct val="150000"/>
              </a:lnSpc>
              <a:buNone/>
            </a:pPr>
            <a:r>
              <a:rPr lang="en-IN" b="1" dirty="0"/>
              <a:t>Database:</a:t>
            </a:r>
            <a:endParaRPr lang="en-IN" dirty="0"/>
          </a:p>
          <a:p>
            <a:pPr>
              <a:lnSpc>
                <a:spcPct val="150000"/>
              </a:lnSpc>
              <a:buFont typeface="Arial" panose="020B0604020202020204" pitchFamily="34" charset="0"/>
              <a:buChar char="•"/>
            </a:pPr>
            <a:r>
              <a:rPr lang="en-IN" dirty="0"/>
              <a:t> H2 </a:t>
            </a:r>
          </a:p>
          <a:p>
            <a:pPr>
              <a:lnSpc>
                <a:spcPct val="150000"/>
              </a:lnSpc>
              <a:buNone/>
            </a:pPr>
            <a:r>
              <a:rPr lang="en-IN" b="1" dirty="0"/>
              <a:t>Other:</a:t>
            </a:r>
            <a:endParaRPr lang="en-IN" dirty="0"/>
          </a:p>
          <a:p>
            <a:pPr>
              <a:lnSpc>
                <a:spcPct val="150000"/>
              </a:lnSpc>
              <a:buFont typeface="Arial" panose="020B0604020202020204" pitchFamily="34" charset="0"/>
              <a:buChar char="•"/>
            </a:pPr>
            <a:r>
              <a:rPr lang="en-IN" dirty="0"/>
              <a:t> JWT Authentication </a:t>
            </a:r>
          </a:p>
          <a:p>
            <a:pPr>
              <a:lnSpc>
                <a:spcPct val="150000"/>
              </a:lnSpc>
              <a:buFont typeface="Arial" panose="020B0604020202020204" pitchFamily="34" charset="0"/>
              <a:buChar char="•"/>
            </a:pPr>
            <a:r>
              <a:rPr lang="en-IN" dirty="0"/>
              <a:t> Axios API handling</a:t>
            </a:r>
          </a:p>
        </p:txBody>
      </p:sp>
    </p:spTree>
    <p:extLst>
      <p:ext uri="{BB962C8B-B14F-4D97-AF65-F5344CB8AC3E}">
        <p14:creationId xmlns:p14="http://schemas.microsoft.com/office/powerpoint/2010/main" val="1811428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2ECBC-3540-27BA-9155-4FFF265A8DCA}"/>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12F4AEDC-F62B-551C-183C-00760E7DCC47}"/>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t>System Architecture</a:t>
            </a:r>
            <a:endParaRPr lang="en-US" sz="3000"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5B8E1177-2823-D12B-8810-B05E71D8EA1D}"/>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dirty="0">
              <a:latin typeface="Times New Roman"/>
            </a:endParaRPr>
          </a:p>
        </p:txBody>
      </p:sp>
      <p:sp>
        <p:nvSpPr>
          <p:cNvPr id="5" name="TextShape 2">
            <a:extLst>
              <a:ext uri="{FF2B5EF4-FFF2-40B4-BE49-F238E27FC236}">
                <a16:creationId xmlns:a16="http://schemas.microsoft.com/office/drawing/2014/main" id="{FD3363C0-E4BD-990C-A235-C54FFF540C2F}"/>
              </a:ext>
            </a:extLst>
          </p:cNvPr>
          <p:cNvSpPr txBox="1"/>
          <p:nvPr/>
        </p:nvSpPr>
        <p:spPr>
          <a:xfrm>
            <a:off x="457200" y="1109742"/>
            <a:ext cx="8434136" cy="4388689"/>
          </a:xfrm>
          <a:prstGeom prst="rect">
            <a:avLst/>
          </a:prstGeom>
          <a:noFill/>
          <a:ln w="9360">
            <a:noFill/>
          </a:ln>
        </p:spPr>
        <p:txBody>
          <a:bodyPr>
            <a:noAutofit/>
          </a:bodyPr>
          <a:lstStyle/>
          <a:p>
            <a:pPr>
              <a:lnSpc>
                <a:spcPct val="150000"/>
              </a:lnSpc>
              <a:buNone/>
            </a:pPr>
            <a:r>
              <a:rPr lang="en-US" sz="2400" b="1" dirty="0">
                <a:latin typeface="Times New Roman" panose="02020603050405020304" pitchFamily="18" charset="0"/>
                <a:cs typeface="Times New Roman" panose="02020603050405020304" pitchFamily="18" charset="0"/>
              </a:rPr>
              <a:t>How it Works</a:t>
            </a:r>
            <a:endParaRPr lang="en-US" sz="24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User logs activity → sent to backend  </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Backend: </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Calculates emissions </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Stores data in database </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AI Engine: </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Generates suggestions </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Forecasts emissions </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Frontend: </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Displays dashboard, charts, insights </a:t>
            </a:r>
          </a:p>
          <a:p>
            <a:pPr>
              <a:lnSpc>
                <a:spcPct val="150000"/>
              </a:lnSpc>
              <a:buNone/>
            </a:pPr>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End-to-end data flow ensures real-time updates</a:t>
            </a:r>
          </a:p>
        </p:txBody>
      </p:sp>
    </p:spTree>
    <p:extLst>
      <p:ext uri="{BB962C8B-B14F-4D97-AF65-F5344CB8AC3E}">
        <p14:creationId xmlns:p14="http://schemas.microsoft.com/office/powerpoint/2010/main" val="4260836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E83C2-4FC5-BC87-CEDD-9BE99D5ECCFB}"/>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16A2DF83-4782-461E-B62B-9E024F656B26}"/>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t>AI &amp; Smart Features</a:t>
            </a:r>
            <a:endParaRPr lang="en-US" sz="3000"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DD18B9FA-28DB-A788-7D01-6FDA7676855B}"/>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dirty="0">
              <a:latin typeface="Times New Roman"/>
            </a:endParaRPr>
          </a:p>
        </p:txBody>
      </p:sp>
      <p:sp>
        <p:nvSpPr>
          <p:cNvPr id="5" name="TextShape 2">
            <a:extLst>
              <a:ext uri="{FF2B5EF4-FFF2-40B4-BE49-F238E27FC236}">
                <a16:creationId xmlns:a16="http://schemas.microsoft.com/office/drawing/2014/main" id="{51CC0BD4-25BB-46C1-89A2-2257B9726652}"/>
              </a:ext>
            </a:extLst>
          </p:cNvPr>
          <p:cNvSpPr txBox="1"/>
          <p:nvPr/>
        </p:nvSpPr>
        <p:spPr>
          <a:xfrm>
            <a:off x="457200" y="1109742"/>
            <a:ext cx="8434136" cy="4388689"/>
          </a:xfrm>
          <a:prstGeom prst="rect">
            <a:avLst/>
          </a:prstGeom>
          <a:noFill/>
          <a:ln w="9360">
            <a:noFill/>
          </a:ln>
        </p:spPr>
        <p:txBody>
          <a:bodyPr>
            <a:noAutofit/>
          </a:bodyPr>
          <a:lstStyle/>
          <a:p>
            <a:pPr>
              <a:lnSpc>
                <a:spcPct val="150000"/>
              </a:lnSpc>
              <a:buNone/>
            </a:pPr>
            <a:r>
              <a:rPr lang="en-IN" sz="2400" b="1" dirty="0">
                <a:latin typeface="Times New Roman" panose="02020603050405020304" pitchFamily="18" charset="0"/>
                <a:cs typeface="Times New Roman" panose="02020603050405020304" pitchFamily="18" charset="0"/>
              </a:rPr>
              <a:t>AI-Based Modules</a:t>
            </a:r>
            <a:endParaRPr lang="en-IN" sz="24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Recommendation Engine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Suggests ways to reduce emissions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Emission Forecasting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Predicts next 7 days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Anomaly Detection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Detects unusual high emissions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Rule-Based Chatbot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Answers user queries </a:t>
            </a:r>
          </a:p>
          <a:p>
            <a:pPr>
              <a:lnSpc>
                <a:spcPct val="150000"/>
              </a:lnSpc>
              <a:buNone/>
            </a:pPr>
            <a:r>
              <a:rPr lang="en-IN" dirty="0">
                <a:latin typeface="Times New Roman" panose="02020603050405020304" pitchFamily="18" charset="0"/>
                <a:cs typeface="Times New Roman" panose="02020603050405020304" pitchFamily="18" charset="0"/>
                <a:sym typeface="Wingdings" panose="05000000000000000000" pitchFamily="2" charset="2"/>
              </a:rPr>
              <a:t> </a:t>
            </a:r>
            <a:r>
              <a:rPr lang="en-IN" dirty="0">
                <a:latin typeface="Times New Roman" panose="02020603050405020304" pitchFamily="18" charset="0"/>
                <a:cs typeface="Times New Roman" panose="02020603050405020304" pitchFamily="18" charset="0"/>
              </a:rPr>
              <a:t>Built using rule-based logic (no external AI APIs)</a:t>
            </a:r>
          </a:p>
        </p:txBody>
      </p:sp>
    </p:spTree>
    <p:extLst>
      <p:ext uri="{BB962C8B-B14F-4D97-AF65-F5344CB8AC3E}">
        <p14:creationId xmlns:p14="http://schemas.microsoft.com/office/powerpoint/2010/main" val="3452858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74046-81CB-EF25-CCC1-D4D2C8DFD0A9}"/>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E3B6CF80-28D0-36AD-80E3-1DEC77C8CB27}"/>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t>Impact &amp; Conclusion</a:t>
            </a:r>
            <a:endParaRPr lang="en-US" sz="3000"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22410878-A415-831D-8937-20AE10010B4C}"/>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dirty="0">
              <a:latin typeface="Times New Roman"/>
            </a:endParaRPr>
          </a:p>
        </p:txBody>
      </p:sp>
      <p:sp>
        <p:nvSpPr>
          <p:cNvPr id="5" name="TextShape 2">
            <a:extLst>
              <a:ext uri="{FF2B5EF4-FFF2-40B4-BE49-F238E27FC236}">
                <a16:creationId xmlns:a16="http://schemas.microsoft.com/office/drawing/2014/main" id="{AC36E0BB-0B2E-F48C-0171-ACD2E707CEA9}"/>
              </a:ext>
            </a:extLst>
          </p:cNvPr>
          <p:cNvSpPr txBox="1"/>
          <p:nvPr/>
        </p:nvSpPr>
        <p:spPr>
          <a:xfrm>
            <a:off x="457200" y="1109742"/>
            <a:ext cx="8434136" cy="4388689"/>
          </a:xfrm>
          <a:prstGeom prst="rect">
            <a:avLst/>
          </a:prstGeom>
          <a:noFill/>
          <a:ln w="9360">
            <a:noFill/>
          </a:ln>
        </p:spPr>
        <p:txBody>
          <a:bodyPr>
            <a:noAutofit/>
          </a:bodyPr>
          <a:lstStyle/>
          <a:p>
            <a:pPr>
              <a:lnSpc>
                <a:spcPct val="150000"/>
              </a:lnSpc>
              <a:buNone/>
            </a:pPr>
            <a:r>
              <a:rPr lang="en-IN" sz="2400" b="1" dirty="0">
                <a:latin typeface="Times New Roman" panose="02020603050405020304" pitchFamily="18" charset="0"/>
                <a:cs typeface="Times New Roman" panose="02020603050405020304" pitchFamily="18" charset="0"/>
              </a:rPr>
              <a:t>Impact</a:t>
            </a:r>
            <a:endParaRPr lang="en-IN" sz="24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Encourages sustainable lifestyle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Raises environmental awareness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Helps reduce personal carbon footprint </a:t>
            </a:r>
          </a:p>
          <a:p>
            <a:pPr>
              <a:lnSpc>
                <a:spcPct val="150000"/>
              </a:lnSpc>
              <a:buNone/>
            </a:pPr>
            <a:r>
              <a:rPr lang="en-IN" sz="2400" b="1" dirty="0">
                <a:latin typeface="Times New Roman" panose="02020603050405020304" pitchFamily="18" charset="0"/>
                <a:cs typeface="Times New Roman" panose="02020603050405020304" pitchFamily="18" charset="0"/>
              </a:rPr>
              <a:t>Future Scope</a:t>
            </a:r>
            <a:endParaRPr lang="en-IN" sz="24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Mobile app version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Real AI/ML integration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Social sharing &amp; challenges </a:t>
            </a:r>
          </a:p>
          <a:p>
            <a:pPr>
              <a:lnSpc>
                <a:spcPct val="150000"/>
              </a:lnSpc>
              <a:buNone/>
            </a:pPr>
            <a:r>
              <a:rPr lang="en-IN" i="1" dirty="0">
                <a:latin typeface="Times New Roman" panose="02020603050405020304" pitchFamily="18" charset="0"/>
                <a:cs typeface="Times New Roman" panose="02020603050405020304" pitchFamily="18" charset="0"/>
                <a:sym typeface="Wingdings" panose="05000000000000000000" pitchFamily="2" charset="2"/>
              </a:rPr>
              <a:t> </a:t>
            </a:r>
            <a:r>
              <a:rPr lang="en-IN" i="1" dirty="0">
                <a:latin typeface="Times New Roman" panose="02020603050405020304" pitchFamily="18" charset="0"/>
                <a:cs typeface="Times New Roman" panose="02020603050405020304" pitchFamily="18" charset="0"/>
              </a:rPr>
              <a:t>“Small actions → Big environmental impact”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4813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dirty="0">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34841</TotalTime>
  <Words>400</Words>
  <Application>Microsoft Office PowerPoint</Application>
  <PresentationFormat>On-screen Show (4:3)</PresentationFormat>
  <Paragraphs>93</Paragraphs>
  <Slides>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Khushi K</cp:lastModifiedBy>
  <cp:revision>2302</cp:revision>
  <dcterms:created xsi:type="dcterms:W3CDTF">2010-04-09T07:36:15Z</dcterms:created>
  <dcterms:modified xsi:type="dcterms:W3CDTF">2026-05-01T06:10:05Z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y fmtid="{D5CDD505-2E9C-101B-9397-08002B2CF9AE}" pid="14" name="MSIP_Label_2a535040-0af2-483f-adc3-a132c21e3e2b_Enabled">
    <vt:lpwstr>true</vt:lpwstr>
  </property>
  <property fmtid="{D5CDD505-2E9C-101B-9397-08002B2CF9AE}" pid="15" name="MSIP_Label_2a535040-0af2-483f-adc3-a132c21e3e2b_SetDate">
    <vt:lpwstr>2026-05-01T03:49:30Z</vt:lpwstr>
  </property>
  <property fmtid="{D5CDD505-2E9C-101B-9397-08002B2CF9AE}" pid="16" name="MSIP_Label_2a535040-0af2-483f-adc3-a132c21e3e2b_Method">
    <vt:lpwstr>Standard</vt:lpwstr>
  </property>
  <property fmtid="{D5CDD505-2E9C-101B-9397-08002B2CF9AE}" pid="17" name="MSIP_Label_2a535040-0af2-483f-adc3-a132c21e3e2b_Name">
    <vt:lpwstr>EPAM_Confidential</vt:lpwstr>
  </property>
  <property fmtid="{D5CDD505-2E9C-101B-9397-08002B2CF9AE}" pid="18" name="MSIP_Label_2a535040-0af2-483f-adc3-a132c21e3e2b_SiteId">
    <vt:lpwstr>b41b72d0-4e9f-4c26-8a69-f949f367c91d</vt:lpwstr>
  </property>
  <property fmtid="{D5CDD505-2E9C-101B-9397-08002B2CF9AE}" pid="19" name="MSIP_Label_2a535040-0af2-483f-adc3-a132c21e3e2b_ActionId">
    <vt:lpwstr>46e2c7c6-a42b-410d-bca7-9f616b567c83</vt:lpwstr>
  </property>
  <property fmtid="{D5CDD505-2E9C-101B-9397-08002B2CF9AE}" pid="20" name="MSIP_Label_2a535040-0af2-483f-adc3-a132c21e3e2b_ContentBits">
    <vt:lpwstr>0</vt:lpwstr>
  </property>
  <property fmtid="{D5CDD505-2E9C-101B-9397-08002B2CF9AE}" pid="21" name="MSIP_Label_2a535040-0af2-483f-adc3-a132c21e3e2b_Tag">
    <vt:lpwstr>10, 3, 0, 1</vt:lpwstr>
  </property>
</Properties>
</file>